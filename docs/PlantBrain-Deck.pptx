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54864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54864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 AI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PlantBrain AI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missing memory layer for industrial operations.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8 — Industrial Knowledge Intelligence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492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  </a:t>
            </a:r>
            <a:pPr algn="l" indent="0" marL="0">
              <a:buNone/>
            </a:pPr>
            <a:r>
              <a:rPr lang="en-US" sz="16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Mridul Negi</a:t>
            </a:r>
            <a:pPr algn="l" indent="0" marL="0">
              <a:buNone/>
            </a:pPr>
            <a:r>
              <a:rPr lang="en-US" sz="16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algn="l" indent="0" marL="0">
              <a:buNone/>
            </a:pPr>
            <a:r>
              <a:rPr lang="en-US" sz="16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Atishay Jain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99455" y="5349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</a:t>
            </a:r>
            <a:pPr algn="r" indent="0" marL="0">
              <a:buNone/>
            </a:pPr>
            <a:r>
              <a:rPr lang="en-US" sz="140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plantbrain-production.up.railway.app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Plant knowledge is scattered — and it's costing millions.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3362858" cy="2331720"/>
          </a:xfrm>
          <a:prstGeom prst="roundRect">
            <a:avLst>
              <a:gd name="adj" fmla="val 3529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5176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7–12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running in a single plant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4418" y="2331720"/>
            <a:ext cx="3362858" cy="2331720"/>
          </a:xfrm>
          <a:prstGeom prst="roundRect">
            <a:avLst>
              <a:gd name="adj" fmla="val 3529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8738" y="265176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~35%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88738" y="37033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engineer's time lost searching for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43037" y="2331720"/>
            <a:ext cx="3362858" cy="2331720"/>
          </a:xfrm>
          <a:prstGeom prst="roundRect">
            <a:avLst>
              <a:gd name="adj" fmla="val 3529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7357" y="265176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18–22%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17357" y="370332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driven by fragmentation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0820095" cy="1188720"/>
          </a:xfrm>
          <a:prstGeom prst="roundRect">
            <a:avLst>
              <a:gd name="adj" fmla="val 6923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2920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spc="2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KNOWLEDGE CLIFF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senior engineers retire, decades of undocumented know-how walk out the door — and the plant can't get it back.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TODAY'S TOOLS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 finds documents. It doesn't understand the plant.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27168" cy="1691640"/>
          </a:xfrm>
          <a:prstGeom prst="roundRect">
            <a:avLst>
              <a:gd name="adj" fmla="val 486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254203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Keyword search is blind to equipment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1546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strings, not assets. It has no idea that “P-204A” is a pump with a failure history.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86000"/>
            <a:ext cx="5227168" cy="1691640"/>
          </a:xfrm>
          <a:prstGeom prst="roundRect">
            <a:avLst>
              <a:gd name="adj" fmla="val 486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01688" y="254203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History is severed from procedure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01688" y="31546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records aren't linked to the procedures or compliance rules they relate 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5227168" cy="1691640"/>
          </a:xfrm>
          <a:prstGeom prst="roundRect">
            <a:avLst>
              <a:gd name="adj" fmla="val 486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59943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 is gathered by hand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52120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stitch together work orders, reports, and manuals — every single time.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4343400"/>
            <a:ext cx="5227168" cy="1691640"/>
          </a:xfrm>
          <a:prstGeom prst="roundRect">
            <a:avLst>
              <a:gd name="adj" fmla="val 486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48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✕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01688" y="459943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Nothing connects the dots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01688" y="5212080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reasons ACROSS documents to give one answer. The knowledge stays fragmented.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asset-first operations brain — that always cites its 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Ask in plain English.</a:t>
            </a:r>
            <a:endParaRPr lang="en-US" sz="22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answer, stitched from every source that matters: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3429000"/>
            <a:ext cx="992124" cy="457200"/>
          </a:xfrm>
          <a:prstGeom prst="roundRect">
            <a:avLst>
              <a:gd name="adj" fmla="val 50000"/>
            </a:avLst>
          </a:prstGeom>
          <a:solidFill>
            <a:srgbClr val="161F28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429000"/>
            <a:ext cx="99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9092" y="342900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161F28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9092" y="3429000"/>
            <a:ext cx="141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342900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161F28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3429000"/>
            <a:ext cx="141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1202436" cy="457200"/>
          </a:xfrm>
          <a:prstGeom prst="roundRect">
            <a:avLst>
              <a:gd name="adj" fmla="val 50000"/>
            </a:avLst>
          </a:prstGeom>
          <a:solidFill>
            <a:srgbClr val="161F28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69080"/>
            <a:ext cx="1202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89404" y="4069080"/>
            <a:ext cx="1307592" cy="457200"/>
          </a:xfrm>
          <a:prstGeom prst="roundRect">
            <a:avLst>
              <a:gd name="adj" fmla="val 50000"/>
            </a:avLst>
          </a:prstGeom>
          <a:solidFill>
            <a:srgbClr val="161F28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9404" y="40690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709160"/>
            <a:ext cx="4937760" cy="1508760"/>
          </a:xfrm>
          <a:prstGeom prst="roundRect">
            <a:avLst>
              <a:gd name="adj" fmla="val 545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70916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CLAIM CITED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 the exact source chunk it came from.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148840"/>
            <a:ext cx="5516575" cy="4069080"/>
          </a:xfrm>
          <a:prstGeom prst="roundRect">
            <a:avLst>
              <a:gd name="adj" fmla="val 2022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880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there is no source,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refuses to answer.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43434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hallucinations. No guesses. In a plant, a confident wrong answer is worse than none.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HERO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answer no single system in the plant could give.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777240"/>
          </a:xfrm>
          <a:prstGeom prst="roundRect">
            <a:avLst>
              <a:gd name="adj" fmla="val 10588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 </a:t>
            </a:r>
            <a:pPr algn="l" indent="0" marL="0">
              <a:buNone/>
            </a:pPr>
            <a:r>
              <a:rPr lang="en-US" sz="1600" i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pump P-204A fail twice this month, and was it closed out compliantly?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6766560" cy="3063240"/>
          </a:xfrm>
          <a:prstGeom prst="roundRect">
            <a:avLst>
              <a:gd name="adj" fmla="val 2388"/>
            </a:avLst>
          </a:prstGeom>
          <a:solidFill>
            <a:srgbClr val="111820"/>
          </a:solidFill>
          <a:ln w="15875">
            <a:solidFill>
              <a:srgbClr val="FF6A2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SCREENSHOT — cited copilot answer 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520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3520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3520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 into a single cited answer  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892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pPr algn="ctr" indent="0" marL="0">
              <a:buNone/>
            </a:pPr>
            <a:r>
              <a:rPr lang="en-US" sz="12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Confidence score</a:t>
            </a:r>
            <a:pPr algn="ctr" indent="0" marL="0">
              <a:buNone/>
            </a:pPr>
            <a:r>
              <a:rPr lang="en-US" sz="12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Missing-evidence flags</a:t>
            </a:r>
            <a:pPr algn="ctr" indent="0" marL="0">
              <a:buNone/>
            </a:pPr>
            <a:r>
              <a:rPr lang="en-US" sz="12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Recommended 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3870655" cy="3063240"/>
          </a:xfrm>
          <a:prstGeom prst="roundRect">
            <a:avLst>
              <a:gd name="adj" fmla="val 2687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955280" y="361188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answer no single system in the plant could give — and every claim is cited.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GraphRAG: vectors find it, the graph proves it, the LLM says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(pgvector)</a:t>
            </a:r>
            <a:pPr algn="ctr" indent="0" marL="0">
              <a:buNone/>
            </a:pPr>
            <a:r>
              <a:rPr lang="en-US" sz="1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+   </a:t>
            </a:r>
            <a:pPr algn="ctr" indent="0" marL="0">
              <a:buNone/>
            </a:pPr>
            <a:r>
              <a:rPr lang="en-US" sz="14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knowledge graph</a:t>
            </a:r>
            <a:pPr algn="ctr" indent="0" marL="0">
              <a:buNone/>
            </a:pPr>
            <a:r>
              <a:rPr lang="en-US" sz="1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→   </a:t>
            </a:r>
            <a:pPr algn="ctr" indent="0" marL="0">
              <a:buNone/>
            </a:pPr>
            <a:r>
              <a:rPr lang="en-US" sz="145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cited answer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5227168" cy="2194560"/>
          </a:xfrm>
          <a:prstGeom prst="roundRect">
            <a:avLst>
              <a:gd name="adj" fmla="val 375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INGEST ONCE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  →  Chunk  →  Embed  →  Build graph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per document set. Structure is captured deterministically.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8728" y="3108960"/>
            <a:ext cx="5227168" cy="2194560"/>
          </a:xfrm>
          <a:prstGeom prst="roundRect">
            <a:avLst>
              <a:gd name="adj" fmla="val 375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338328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· ANSWER IN REAL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38862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Retrieve  →  Traverse graph  →  Cite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98768" y="4572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question. ~3.9s to a fully cited answer.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5532120"/>
            <a:ext cx="10820095" cy="777240"/>
          </a:xfrm>
          <a:prstGeom prst="roundRect">
            <a:avLst>
              <a:gd name="adj" fmla="val 10588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53212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HALLUCINATED EDGES   </a:t>
            </a:r>
            <a:pPr algn="l" indent="0" marL="0">
              <a:buNone/>
            </a:pPr>
            <a:r>
              <a:rPr lang="en-US" sz="15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used for language only — never to invent structural facts about the plant.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A CHATBOT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reasoning graph and three cited agents on top of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120640" cy="4069080"/>
          </a:xfrm>
          <a:prstGeom prst="roundRect">
            <a:avLst>
              <a:gd name="adj" fmla="val 2022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KNOWLEDGE GRAPH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1828800" cy="594360"/>
          </a:xfrm>
          <a:prstGeom prst="roundRect">
            <a:avLst>
              <a:gd name="adj" fmla="val 46154"/>
            </a:avLst>
          </a:prstGeom>
          <a:solidFill>
            <a:srgbClr val="111820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4114800"/>
            <a:ext cx="1828800" cy="594360"/>
          </a:xfrm>
          <a:prstGeom prst="roundRect">
            <a:avLst>
              <a:gd name="adj" fmla="val 46154"/>
            </a:avLst>
          </a:prstGeom>
          <a:solidFill>
            <a:srgbClr val="111820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4114800"/>
            <a:ext cx="1828800" cy="594360"/>
          </a:xfrm>
          <a:prstGeom prst="roundRect">
            <a:avLst>
              <a:gd name="adj" fmla="val 46154"/>
            </a:avLst>
          </a:prstGeom>
          <a:solidFill>
            <a:srgbClr val="111820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H="1">
            <a:off x="2057400" y="3520440"/>
            <a:ext cx="640080" cy="594360"/>
          </a:xfrm>
          <a:prstGeom prst="line">
            <a:avLst/>
          </a:prstGeom>
          <a:noFill/>
          <a:ln w="19050">
            <a:solidFill>
              <a:srgbClr val="FF6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520440"/>
            <a:ext cx="1005840" cy="594360"/>
          </a:xfrm>
          <a:prstGeom prst="line">
            <a:avLst/>
          </a:prstGeom>
          <a:noFill/>
          <a:ln w="19050">
            <a:solidFill>
              <a:srgbClr val="FF6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257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→ every node traces to its source chunk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5470855" cy="1234440"/>
          </a:xfrm>
          <a:prstGeom prst="roundRect">
            <a:avLst>
              <a:gd name="adj" fmla="val 666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331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178040" y="235000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Root-Cause Analysis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280720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 failure back through the graph to its underlying cause.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566160"/>
            <a:ext cx="5470855" cy="1234440"/>
          </a:xfrm>
          <a:prstGeom prst="roundRect">
            <a:avLst>
              <a:gd name="adj" fmla="val 666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78040" y="376732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Compliance-Gap Detection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22452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where procedures or records fall short of the rules.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4983480"/>
            <a:ext cx="5470855" cy="1234440"/>
          </a:xfrm>
          <a:prstGeom prst="roundRect">
            <a:avLst>
              <a:gd name="adj" fmla="val 666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166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78040" y="518464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Similar-Past-Failure Retrieval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564184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prior incidents on comparable assets and components.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measured it — these aren't vibes.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8716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78408" y="32461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9178" y="228600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3498" y="248716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0.82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91786" y="32461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2557" y="228600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6877" y="248716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05165" y="32461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7880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78408" y="4937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99178" y="397764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3498" y="417880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91786" y="4937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Asset-tag precision / recall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12557" y="3977640"/>
            <a:ext cx="3393338" cy="13716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6877" y="4178808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3.9s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05165" y="4937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answer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440680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44068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~3.9 seconds</a:t>
            </a:r>
            <a:pPr algn="l" indent="0" marL="0">
              <a:buNone/>
            </a:pPr>
            <a:r>
              <a:rPr lang="en-US" sz="16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answer   vs   </a:t>
            </a:r>
            <a:pPr algn="l" indent="0" marL="0">
              <a:buNone/>
            </a:pPr>
            <a:r>
              <a:rPr lang="en-US" sz="22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~12 minutes</a:t>
            </a:r>
            <a:pPr algn="l" indent="0" marL="0">
              <a:buNone/>
            </a:pPr>
            <a:r>
              <a:rPr lang="en-US" sz="16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manual search.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for a plant that can't afford to be wrong — or breached.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27168" cy="1737360"/>
          </a:xfrm>
          <a:prstGeom prst="roundRect">
            <a:avLst>
              <a:gd name="adj" fmla="val 473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786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F28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source, no answer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3154680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guardrail: the model will not answer beyond its cited evidence.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286000"/>
            <a:ext cx="5227168" cy="1737360"/>
          </a:xfrm>
          <a:prstGeom prst="roundRect">
            <a:avLst>
              <a:gd name="adj" fmla="val 473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25786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F28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256032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Uploads are untrusted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38848" y="3154680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attempts are detected and refused — verified live in the demo.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5227168" cy="1737360"/>
          </a:xfrm>
          <a:prstGeom prst="roundRect">
            <a:avLst>
              <a:gd name="adj" fmla="val 473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6817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F28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663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audit trail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5257800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asked and every document uploaded is logged and traceable.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4389120"/>
            <a:ext cx="5227168" cy="1737360"/>
          </a:xfrm>
          <a:prstGeom prst="roundRect">
            <a:avLst>
              <a:gd name="adj" fmla="val 4737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46817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F28"/>
          </a:solidFill>
          <a:ln w="15875">
            <a:solidFill>
              <a:srgbClr val="FF6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3048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38848" y="4663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Secure by process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38848" y="5257800"/>
            <a:ext cx="403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Security-reviewed before every push; an RCE dependency found &amp; eliminated; secrets never committed.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SCALABILITY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 infrastructure today. Data sovereignty on day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27168" cy="1783080"/>
          </a:xfrm>
          <a:prstGeom prst="roundRect">
            <a:avLst>
              <a:gd name="adj" fmla="val 461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6888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PRODUCTION DATASTORE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58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 + pgvector — production infrastructure, not a toy demo store.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194560"/>
            <a:ext cx="5227168" cy="1783080"/>
          </a:xfrm>
          <a:prstGeom prst="roundRect">
            <a:avLst>
              <a:gd name="adj" fmla="val 4615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8768" y="246888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PROVIDER-AGNOSTIC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Groq now  →  on-prem Ollama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confidential plant data — with ZERO code change.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206240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161F28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  </a:t>
            </a:r>
            <a:pPr algn="l" indent="0" marL="0">
              <a:buNone/>
            </a:pPr>
            <a:r>
              <a:rPr lang="en-US" sz="1450" dirty="0">
                <a:solidFill>
                  <a:srgbClr val="E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 / IBM Maximo / SharePoint connectors   ·   SSO + role-based access   ·   advanced P&amp;ID parsing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257800"/>
            <a:ext cx="10820095" cy="1051560"/>
          </a:xfrm>
          <a:prstGeom prst="roundRect">
            <a:avLst>
              <a:gd name="adj" fmla="val 7826"/>
            </a:avLst>
          </a:prstGeom>
          <a:solidFill>
            <a:srgbClr val="111820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257800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E7E9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and security-reviewed end to end, fully cited, on real infrastructure — ready to plug into a plant's existing systems.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25535" y="5257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0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plantbrain-production</a:t>
            </a:r>
            <a:endParaRPr lang="en-US" sz="10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6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.up.railway.app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62895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PLANTBRAIN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2026-07-22T17:14:26Z</dcterms:created>
  <dcterms:modified xsi:type="dcterms:W3CDTF">2026-07-22T17:14:26Z</dcterms:modified>
</cp:coreProperties>
</file>